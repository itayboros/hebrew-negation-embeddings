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A"/>
                </a:solidFill>
                <a:latin typeface="Cambria"/>
              </a:defRPr>
            </a:pPr>
            <a:r>
              <a:rPr sz="1400" b="0" i="0" u="none" strike="noStrike">
                <a:solidFill>
                  <a:srgbClr val="1B2A4A"/>
                </a:solidFill>
                <a:latin typeface="Cambria"/>
              </a:rPr>
              <a:t>Baseline cosine gap (test split)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cosine gap</c:v>
                </c:pt>
              </c:strCache>
            </c:strRef>
          </c:tx>
          <c:spPr>
            <a:solidFill>
              <a:srgbClr val="E3A54B"/>
            </a:solidFill>
            <a:effectLst/>
          </c:spPr>
          <c:invertIfNegative val="0"/>
          <c:dLbls>
            <c:numFmt formatCode="+0.000;-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A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3A54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3A54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6455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6455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multilingual-e5</c:v>
                  </c:pt>
                  <c:pt idx="1">
                    <c:v>LaBSE</c:v>
                  </c:pt>
                  <c:pt idx="2">
                    <c:v>alephbert-sent.</c:v>
                  </c:pt>
                  <c:pt idx="3">
                    <c:v>sambert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0.022</c:v>
                </c:pt>
                <c:pt idx="1">
                  <c:v>0.066</c:v>
                </c:pt>
                <c:pt idx="2">
                  <c:v>-0.02</c:v>
                </c:pt>
                <c:pt idx="3">
                  <c:v>-0.017</c:v>
                </c:pt>
              </c:numCache>
            </c:numRef>
          </c:val>
        </c:ser>
        <c:dLbls>
          <c:numFmt formatCode="+0.000;-0.000" sourceLinked="0"/>
          <c:txPr>
            <a:bodyPr/>
            <a:lstStyle/>
            <a:p>
              <a:pPr>
                <a:defRPr b="0" i="0" strike="noStrike" sz="1100" u="none">
                  <a:solidFill>
                    <a:srgbClr val="1B2A4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464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8"/>
          <c:min val="-0.05"/>
        </c:scaling>
        <c:delete val="0"/>
        <c:axPos val="l"/>
        <c:majorGridlines>
          <c:spPr>
            <a:ln w="12700" cap="flat">
              <a:solidFill>
                <a:srgbClr val="E3E6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464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8FC"/>
        </a:solidFill>
        <a:ln>
          <a:noFill/>
        </a:ln>
        <a:effectLst/>
      </c:spPr>
    </c:plotArea>
    <c:plotVisOnly val="1"/>
    <c:dispBlanksAs val="span"/>
  </c:chart>
  <c:spPr>
    <a:solidFill>
      <a:srgbClr val="F7F8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A4A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B2A4A"/>
                </a:solidFill>
                <a:latin typeface="Cambria"/>
              </a:rPr>
              <a:t>Negation type (303 items)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CADCF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particle</c:v>
                  </c:pt>
                  <c:pt idx="1">
                    <c:v>quantifier</c:v>
                  </c:pt>
                  <c:pt idx="2">
                    <c:v>existential</c:v>
                  </c:pt>
                  <c:pt idx="3">
                    <c:v>question</c:v>
                  </c:pt>
                  <c:pt idx="4">
                    <c:v>privative</c:v>
                  </c:pt>
                  <c:pt idx="5">
                    <c:v>neg-raising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58</c:v>
                </c:pt>
                <c:pt idx="1">
                  <c:v>18</c:v>
                </c:pt>
                <c:pt idx="2">
                  <c:v>16</c:v>
                </c:pt>
                <c:pt idx="3">
                  <c:v>4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B2A4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464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8FC"/>
        </a:solidFill>
        <a:ln w="12700" cap="flat">
          <a:solidFill>
            <a:srgbClr val="F7F8FC"/>
          </a:solidFill>
        </a:ln>
        <a:effectLst/>
      </c:spPr>
    </c:plotArea>
    <c:plotVisOnly val="1"/>
    <c:dispBlanksAs val="span"/>
  </c:chart>
  <c:spPr>
    <a:solidFill>
      <a:srgbClr val="F7F8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A9B6C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multilingual-e5</c:v>
                  </c:pt>
                  <c:pt idx="1">
                    <c:v>LaBSE</c:v>
                  </c:pt>
                  <c:pt idx="2">
                    <c:v>alephbert-sentence</c:v>
                  </c:pt>
                  <c:pt idx="3">
                    <c:v>sambert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</c:v>
                </c:pt>
                <c:pt idx="1">
                  <c:v>0.8</c:v>
                </c:pt>
                <c:pt idx="2">
                  <c:v>0.5</c:v>
                </c:pt>
                <c:pt idx="3">
                  <c:v>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projection</c:v>
                </c:pt>
              </c:strCache>
            </c:strRef>
          </c:tx>
          <c:spPr>
            <a:solidFill>
              <a:srgbClr val="E3A54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multilingual-e5</c:v>
                  </c:pt>
                  <c:pt idx="1">
                    <c:v>LaBSE</c:v>
                  </c:pt>
                  <c:pt idx="2">
                    <c:v>alephbert-sentence</c:v>
                  </c:pt>
                  <c:pt idx="3">
                    <c:v>sambert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0.94</c:v>
                </c:pt>
                <c:pt idx="1">
                  <c:v>0.95</c:v>
                </c:pt>
                <c:pt idx="2">
                  <c:v>0.91</c:v>
                </c:pt>
                <c:pt idx="3">
                  <c:v>0.86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nli_rerank</c:v>
                </c:pt>
              </c:strCache>
            </c:strRef>
          </c:tx>
          <c:spPr>
            <a:solidFill>
              <a:srgbClr val="1B2A4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multilingual-e5</c:v>
                  </c:pt>
                  <c:pt idx="1">
                    <c:v>LaBSE</c:v>
                  </c:pt>
                  <c:pt idx="2">
                    <c:v>alephbert-sentence</c:v>
                  </c:pt>
                  <c:pt idx="3">
                    <c:v>sambert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0.99</c:v>
                </c:pt>
                <c:pt idx="1">
                  <c:v>0.99</c:v>
                </c:pt>
                <c:pt idx="2">
                  <c:v>0.99</c:v>
                </c:pt>
                <c:pt idx="3">
                  <c:v>0.99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B2A4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64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5"/>
          <c:min val="0"/>
        </c:scaling>
        <c:delete val="0"/>
        <c:axPos val="l"/>
        <c:majorGridlines>
          <c:spPr>
            <a:ln w="12700" cap="flat">
              <a:solidFill>
                <a:srgbClr val="E3E6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464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8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4464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7F8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gap closed</c:v>
                </c:pt>
              </c:strCache>
            </c:strRef>
          </c:tx>
          <c:spPr>
            <a:solidFill>
              <a:srgbClr val="1B2A4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existential</c:v>
                  </c:pt>
                  <c:pt idx="1">
                    <c:v>quantifier</c:v>
                  </c:pt>
                  <c:pt idx="2">
                    <c:v>particle</c:v>
                  </c:pt>
                  <c:pt idx="3">
                    <c:v>question</c:v>
                  </c:pt>
                  <c:pt idx="4">
                    <c:v>neg-raising</c:v>
                  </c:pt>
                  <c:pt idx="5">
                    <c:v>privative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83</c:v>
                </c:pt>
                <c:pt idx="1">
                  <c:v>82</c:v>
                </c:pt>
                <c:pt idx="2">
                  <c:v>76</c:v>
                </c:pt>
                <c:pt idx="3">
                  <c:v>75</c:v>
                </c:pt>
                <c:pt idx="4">
                  <c:v>53</c:v>
                </c:pt>
                <c:pt idx="5">
                  <c:v>32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A4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4464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8FC"/>
        </a:solidFill>
        <a:ln>
          <a:noFill/>
        </a:ln>
        <a:effectLst/>
      </c:spPr>
    </c:plotArea>
    <c:plotVisOnly val="1"/>
    <c:dispBlanksAs val="span"/>
  </c:chart>
  <c:spPr>
    <a:solidFill>
      <a:srgbClr val="F7F8FC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1054303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Repairing the Negation Blind Spot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Hebrew Text Embeddings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4251960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Itay Boros   ·   Shachar Ben Zur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4709160"/>
            <a:ext cx="10543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— NLP Course, Reichman University, 2026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692640" y="822960"/>
            <a:ext cx="1828800" cy="1828800"/>
          </a:xfrm>
          <a:prstGeom prst="ellipse">
            <a:avLst/>
          </a:prstGeom>
          <a:solidFill>
            <a:srgbClr val="24345C"/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0" y="82296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3A5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¬</a:t>
            </a:r>
            <a:endParaRPr lang="en-US" sz="6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Negation Blind Spot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sentence and its negation share almost every word — but mean the opposite thing.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cosine gap</a:t>
            </a:r>
            <a:pPr indent="0" marL="0">
              <a:buNone/>
            </a:pPr>
            <a:r>
              <a:rPr lang="en-US" sz="1500" dirty="0">
                <a:solidFill>
                  <a:srgbClr val="4446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 cos(target, paraphrase)  −  cos(target, negation)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negation-sensitive model should score this well above zero.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0"/>
            <a:ext cx="6400800" cy="2651760"/>
          </a:xfrm>
          <a:prstGeom prst="roundRect">
            <a:avLst>
              <a:gd name="adj" fmla="val 4138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383280"/>
            <a:ext cx="6400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E3A5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of 4</a:t>
            </a:r>
            <a:endParaRPr lang="en-US" sz="6600" dirty="0"/>
          </a:p>
        </p:txBody>
      </p:sp>
      <p:sp>
        <p:nvSpPr>
          <p:cNvPr id="8" name="Text 6"/>
          <p:cNvSpPr/>
          <p:nvPr/>
        </p:nvSpPr>
        <p:spPr>
          <a:xfrm>
            <a:off x="822960" y="4526280"/>
            <a:ext cx="5852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Hebrew embedding models score a sentence’s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as ≥ its paraphrase — on their own test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315200" y="1234440"/>
          <a:ext cx="4297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Questions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9202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68680" y="297180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Repair it post-hoc?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68680" y="3611880"/>
            <a:ext cx="29260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a frozen embedder’s vector space directly — no retraining.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155448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920240"/>
            <a:ext cx="822960" cy="8229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/>
          <p:nvPr/>
        </p:nvSpPr>
        <p:spPr>
          <a:xfrm>
            <a:off x="4709160" y="19202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63440" y="297180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 vs. fuse?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663440" y="3611880"/>
            <a:ext cx="29260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 representation-space fix against blending in an external NLI signal.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138160" y="155448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503920" y="1920240"/>
            <a:ext cx="822960" cy="822960"/>
          </a:xfrm>
          <a:prstGeom prst="ellipse">
            <a:avLst/>
          </a:prstGeom>
          <a:solidFill>
            <a:srgbClr val="E3A54B"/>
          </a:solidFill>
          <a:ln/>
        </p:spPr>
      </p:sp>
      <p:sp>
        <p:nvSpPr>
          <p:cNvPr id="15" name="Text 13"/>
          <p:cNvSpPr/>
          <p:nvPr/>
        </p:nvSpPr>
        <p:spPr>
          <a:xfrm>
            <a:off x="8503920" y="19202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8458200" y="297180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fix real?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458200" y="3611880"/>
            <a:ext cx="29260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can a metric “improve” by degenerate means — collapsing the space until everything looks alike?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 turned out not to be hypothetical — it shaped both interventions.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3152" cy="10515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41732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Diagnosing it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840480" y="141732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NevIR (Weller+ 2024), CONDAQA (Ravichander+ 2022): retrieval &amp; QA models rank negation pairs near chance.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670048"/>
            <a:ext cx="73152" cy="1051560"/>
          </a:xfrm>
          <a:prstGeom prst="rect">
            <a:avLst/>
          </a:prstGeom>
          <a:solidFill>
            <a:srgbClr val="E3A54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24328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Editing the space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840480" y="2624328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Hard-debiasing removes a direction (Bolukbasi+ 2016); activation steering adds one (Turner+, Zou+ 2023). We amplify the sentence’s own signal — neither.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877056"/>
            <a:ext cx="73152" cy="1051560"/>
          </a:xfrm>
          <a:prstGeom prst="rect">
            <a:avLst/>
          </a:prstGeom>
          <a:solidFill>
            <a:srgbClr val="3E8E6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831336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Fusing a signal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840480" y="3831336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Cross-encoder re-ranking (NevIR) inspired nli_rerank: blend cosine with an external NLI judgment.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5084064"/>
            <a:ext cx="73152" cy="1051560"/>
          </a:xfrm>
          <a:prstGeom prst="rect">
            <a:avLst/>
          </a:prstGeom>
          <a:solidFill>
            <a:srgbClr val="5B7FDE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5038344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Hebrew resources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840480" y="5038344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AlephBERT (Seker+ 2022) and HebNLI underlie both our embedder and our fine-tuned classifier.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638251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work measures or repairs this specifically for Hebrew embeddings.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Hebrew Negation Probe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Mined from HebNLI — not sampled from “contradiction”, hand-verified that the opposition is really negation.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6035040" cy="5486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965960"/>
            <a:ext cx="374172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HebNLI prompts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169664" y="1965960"/>
            <a:ext cx="22768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100,390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00100" y="2587752"/>
            <a:ext cx="5532120" cy="5486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8" name="Text 6"/>
          <p:cNvSpPr/>
          <p:nvPr/>
        </p:nvSpPr>
        <p:spPr>
          <a:xfrm>
            <a:off x="937260" y="2587752"/>
            <a:ext cx="342991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contradiction pair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119372" y="2587752"/>
            <a:ext cx="207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96,929  (97%)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051560" y="3209544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1188720" y="3209544"/>
            <a:ext cx="31181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well-formed length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069080" y="3209544"/>
            <a:ext cx="1874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86,352  (89%)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303020" y="3831336"/>
            <a:ext cx="4526280" cy="5486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14" name="Text 12"/>
          <p:cNvSpPr/>
          <p:nvPr/>
        </p:nvSpPr>
        <p:spPr>
          <a:xfrm>
            <a:off x="1440180" y="3831336"/>
            <a:ext cx="280629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marker added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018788" y="3831336"/>
            <a:ext cx="16733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32,733  (38%)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554480" y="4453128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1691640" y="4453128"/>
            <a:ext cx="2494483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single edit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968496" y="4453128"/>
            <a:ext cx="14721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689  (2%)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805940" y="507492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E3A54B"/>
          </a:solidFill>
          <a:ln/>
        </p:spPr>
      </p:sp>
      <p:sp>
        <p:nvSpPr>
          <p:cNvPr id="20" name="Text 18"/>
          <p:cNvSpPr/>
          <p:nvPr/>
        </p:nvSpPr>
        <p:spPr>
          <a:xfrm>
            <a:off x="1943100" y="5074920"/>
            <a:ext cx="2182673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human-verified probe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918204" y="5074920"/>
            <a:ext cx="12710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303  (44% of 689)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" y="58338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 of HebNLI contradiction pairs contain no negation marker at all.</a:t>
            </a:r>
            <a:endParaRPr lang="en-US" sz="120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6949440" y="1737360"/>
          <a:ext cx="46634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4" name="Text 21"/>
          <p:cNvSpPr/>
          <p:nvPr/>
        </p:nvSpPr>
        <p:spPr>
          <a:xfrm>
            <a:off x="6949440" y="603504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 / 151 train / test split — stratified so no type sits entirely on one side.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#1 — projection: edit the space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a negation direction d, then amplify each sentence’s own component along 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760720" cy="1280160"/>
          </a:xfrm>
          <a:prstGeom prst="roundRect">
            <a:avLst>
              <a:gd name="adj" fmla="val 5714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20240"/>
            <a:ext cx="5760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3A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v′ = v + (γ − 1) · ((v·d) − μ) · 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342900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γ = 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828800" y="342900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no change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397764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γ &gt; 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828800" y="39776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amplifies the negation signal already in the sentence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45262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828800" y="452628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mean-difference, or a logistic-regression hyperplane normal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5257800"/>
            <a:ext cx="5760720" cy="1051560"/>
          </a:xfrm>
          <a:prstGeom prst="roundRect">
            <a:avLst>
              <a:gd name="adj" fmla="val 6957"/>
            </a:avLst>
          </a:prstGeom>
          <a:solidFill>
            <a:srgbClr val="FDF1E3"/>
          </a:solidFill>
          <a:ln w="19050">
            <a:solidFill>
              <a:srgbClr val="E3A5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257800"/>
            <a:ext cx="5303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not debiasing: removing d would make a sentence and its negation MORE alike — the opposite of the goal.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858000" y="18288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0" y="1828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amplification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35240" y="2880360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7" name="Shape 15"/>
          <p:cNvSpPr/>
          <p:nvPr/>
        </p:nvSpPr>
        <p:spPr>
          <a:xfrm>
            <a:off x="7936992" y="2697480"/>
            <a:ext cx="292608" cy="292608"/>
          </a:xfrm>
          <a:prstGeom prst="ellipse">
            <a:avLst/>
          </a:prstGeom>
          <a:solidFill>
            <a:srgbClr val="3E8E6A"/>
          </a:solidFill>
          <a:ln/>
        </p:spPr>
      </p:sp>
      <p:sp>
        <p:nvSpPr>
          <p:cNvPr id="18" name="Shape 16"/>
          <p:cNvSpPr/>
          <p:nvPr/>
        </p:nvSpPr>
        <p:spPr>
          <a:xfrm>
            <a:off x="7818120" y="3063240"/>
            <a:ext cx="292608" cy="292608"/>
          </a:xfrm>
          <a:prstGeom prst="ellipse">
            <a:avLst/>
          </a:prstGeom>
          <a:solidFill>
            <a:srgbClr val="D64550"/>
          </a:solidFill>
          <a:ln/>
        </p:spPr>
      </p:sp>
      <p:sp>
        <p:nvSpPr>
          <p:cNvPr id="19" name="Text 17"/>
          <p:cNvSpPr/>
          <p:nvPr/>
        </p:nvSpPr>
        <p:spPr>
          <a:xfrm>
            <a:off x="6903720" y="3429000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903720" y="3685032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paraphrase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903720" y="3941064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418320" y="3246120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3" name="Shape 21"/>
          <p:cNvSpPr/>
          <p:nvPr/>
        </p:nvSpPr>
        <p:spPr>
          <a:xfrm>
            <a:off x="9738360" y="3063240"/>
            <a:ext cx="292608" cy="292608"/>
          </a:xfrm>
          <a:prstGeom prst="ellipse">
            <a:avLst/>
          </a:prstGeom>
          <a:solidFill>
            <a:srgbClr val="3E8E6A"/>
          </a:solidFill>
          <a:ln/>
        </p:spPr>
      </p:sp>
      <p:sp>
        <p:nvSpPr>
          <p:cNvPr id="24" name="Shape 22"/>
          <p:cNvSpPr/>
          <p:nvPr/>
        </p:nvSpPr>
        <p:spPr>
          <a:xfrm>
            <a:off x="11384280" y="3337560"/>
            <a:ext cx="292608" cy="292608"/>
          </a:xfrm>
          <a:prstGeom prst="ellipse">
            <a:avLst/>
          </a:prstGeom>
          <a:solidFill>
            <a:srgbClr val="D64550"/>
          </a:solidFill>
          <a:ln/>
        </p:spPr>
      </p:sp>
      <p:sp>
        <p:nvSpPr>
          <p:cNvPr id="25" name="Text 23"/>
          <p:cNvSpPr/>
          <p:nvPr/>
        </p:nvSpPr>
        <p:spPr>
          <a:xfrm>
            <a:off x="8869680" y="3611880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189720" y="269748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paraphrase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881360" y="3703320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858000" y="4297680"/>
            <a:ext cx="49377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086600" y="44348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Selecting γ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086600" y="480060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CV on train, argmax cosine gap — never touches test.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86600" y="534924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Gap-only selection turned out to be unsafe — next slide.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#2 — nli_rerank: fuse a signal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embedding alone. Blend its cosine with a Hebrew NLI classifier’s judgment.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7589520" cy="1280160"/>
          </a:xfrm>
          <a:prstGeom prst="roundRect">
            <a:avLst>
              <a:gd name="adj" fmla="val 5714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20240"/>
            <a:ext cx="7589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3A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combined = (1−λ)·cos(a,b) + λ·[P(entail) − P(contra)]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342900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Classifier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514600" y="3429000"/>
            <a:ext cx="56235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AlephBERT fine-tuned on HebNLI — 79.6% test accuracy (macro-F1 79.4%).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142232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Decontamination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514600" y="4142232"/>
            <a:ext cx="56235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 items’ 689 promptIDs held out of fine-tuning — else the classifier would have memorized the probe.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4855464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λ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514600" y="4855464"/>
            <a:ext cx="56235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21-point grid per model. Max pairwise accuracy among λ whose Hebrew-STS-dev Spearman stays within 0.02 of λ=0.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5568696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Locked once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514600" y="5568696"/>
            <a:ext cx="56235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on train/STS-dev, evaluated exactly once on test/STS-test.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412480" y="1920240"/>
            <a:ext cx="3200400" cy="4434840"/>
          </a:xfrm>
          <a:prstGeom prst="roundRect">
            <a:avLst>
              <a:gd name="adj" fmla="val 2286"/>
            </a:avLst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0" y="21488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λ = 0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686800" y="2514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cosine (baseline)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86800" y="3063240"/>
            <a:ext cx="2651760" cy="0"/>
          </a:xfrm>
          <a:prstGeom prst="line">
            <a:avLst/>
          </a:prstGeom>
          <a:noFill/>
          <a:ln w="12700">
            <a:solidFill>
              <a:srgbClr val="3E4E7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0" y="32004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λ = 1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0" y="35661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NLI — embedder discarded entirely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686800" y="4160520"/>
            <a:ext cx="2651760" cy="0"/>
          </a:xfrm>
          <a:prstGeom prst="line">
            <a:avLst/>
          </a:prstGeom>
          <a:noFill/>
          <a:ln w="12700">
            <a:solidFill>
              <a:srgbClr val="3E4E7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0" y="42976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3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λ per model: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686800" y="46177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0.05 – 0.35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8686800" y="5166360"/>
            <a:ext cx="2651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little NLI goes a long way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 Fixes Need a Second Guard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Maximizing the target metric alone finds the same degenerate optimum in either intervention.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120640" cy="3200400"/>
          </a:xfrm>
          <a:prstGeom prst="roundRect">
            <a:avLst>
              <a:gd name="adj" fmla="val 2857"/>
            </a:avLst>
          </a:prstGeom>
          <a:solidFill>
            <a:srgbClr val="24345C"/>
          </a:solidFill>
          <a:ln w="25400">
            <a:solidFill>
              <a:srgbClr val="D645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945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E3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 — γ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 = 1000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33375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sim_unrelated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65760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D645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0.975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914400" y="46177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(γ = 12): sim_unrelated 0.350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0" y="1920240"/>
            <a:ext cx="5120640" cy="3200400"/>
          </a:xfrm>
          <a:prstGeom prst="roundRect">
            <a:avLst>
              <a:gd name="adj" fmla="val 2857"/>
            </a:avLst>
          </a:prstGeom>
          <a:solidFill>
            <a:srgbClr val="24345C"/>
          </a:solidFill>
          <a:ln w="25400">
            <a:solidFill>
              <a:srgbClr val="3E8E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21945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E3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NLI_RERANK — λ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26480" y="260604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λ = 1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126480" y="33375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STS Spearman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126480" y="365760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D645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0.53</a:t>
            </a:r>
            <a:endParaRPr lang="en-US" sz="5200" dirty="0"/>
          </a:p>
        </p:txBody>
      </p:sp>
      <p:sp>
        <p:nvSpPr>
          <p:cNvPr id="15" name="Text 13"/>
          <p:cNvSpPr/>
          <p:nvPr/>
        </p:nvSpPr>
        <p:spPr>
          <a:xfrm>
            <a:off x="6400800" y="46177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(λ = 0.05–0.35): STS moves ≤ 0.07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53492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3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fix either way: keep only the values an independent guard metric approves.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across all 4 models — the raw metric keeps “improving” right up to collapse.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Head-to-Head: Pairwise Accuracy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= 0.50. Both fixes help; nli_rerank wins on every model, with a real STS guard instead of a proxy.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828800"/>
          <a:ext cx="108813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projection Still Struggles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the baseline gap closed, by negation type (aggregated across all 4 models).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828800"/>
          <a:ext cx="73152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29600" y="1828800"/>
            <a:ext cx="3383280" cy="448056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03920" y="205740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Biggest 3 categories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(89% of test items)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503920" y="26974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75–83% of their gap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503920" y="3246120"/>
            <a:ext cx="2834640" cy="0"/>
          </a:xfrm>
          <a:prstGeom prst="line">
            <a:avLst/>
          </a:prstGeom>
          <a:noFill/>
          <a:ln w="12700">
            <a:solidFill>
              <a:srgbClr val="E3E6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03920" y="34290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privative &amp; neg-raising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503920" y="3794760"/>
            <a:ext cx="2834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only 32–53% — but n=12 each, across all 4 models. Suggestive, not conclusive.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Contribution &amp; Limitations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64240" cy="1554480"/>
          </a:xfrm>
          <a:prstGeom prst="roundRect">
            <a:avLst>
              <a:gd name="adj" fmla="val 5882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087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3A5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methodological finding is the contribution: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0515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Amplifying a concept direction safely needs an independent guard metric — gap-only selection reliably finds the degenerate optimum, and cross-validation does not protect against it.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3246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303-item probe — smallest categories (n=3–4/model) are suggestive, not conclusive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4270248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sim_unrelated is a proxy, not a real similarity benchmark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4837176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Hebrew STS-B is a translation of English STS-B, not natively annotated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5404104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multilingual-e5’s collapse guard is unresolved within this search grid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0" y="324612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0" y="370332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a real Hebrew STS guard into projection’s γ-selection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0" y="4270248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probe with a 4th sentence → true 0.25-chance NevIR metric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0" y="4837176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why multilingual-e5 resists the collapse-safe region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data, results, and Colab notebooks: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365760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3A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github.com/ItayBoros/hebrew-negation-embeddings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4846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Itay Boros  ·  Shachar Ben Zur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692640" y="822960"/>
            <a:ext cx="1828800" cy="1828800"/>
          </a:xfrm>
          <a:prstGeom prst="ellipse">
            <a:avLst/>
          </a:prstGeom>
          <a:solidFill>
            <a:srgbClr val="24345C"/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0" y="82296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3A5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¬</a:t>
            </a:r>
            <a:endParaRPr lang="en-US" sz="6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2026-08-18T13:22:27Z</dcterms:created>
  <dcterms:modified xsi:type="dcterms:W3CDTF">2026-08-18T13:22:27Z</dcterms:modified>
</cp:coreProperties>
</file>